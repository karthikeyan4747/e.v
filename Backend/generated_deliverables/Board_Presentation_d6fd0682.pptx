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Highlight the strategic importance of energy resilience and cost savings.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team should focus on site-specific data and system integration challenges.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371600"/>
            <a:ext cx="10362895" cy="4114800"/>
          </a:xfrm>
          <a:prstGeom prst="rect">
            <a:avLst/>
          </a:prstGeom>
          <a:noFill/>
        </p:spPr>
        <p:txBody>
          <a:bodyPr wrap="square">
            <a:spAutoFit/>
          </a:bodyPr>
          <a:lstStyle/>
          <a:p>
            <a:pPr>
              <a:defRPr sz="1200" b="1">
                <a:solidFill>
                  <a:srgbClr val="0EA5E9"/>
                </a:solidFill>
              </a:defRPr>
            </a:pPr>
            <a:r>
              <a:t>SOVEREIGN AIR-GAPPED BRIEFING // CONFIDENTIAL</a:t>
            </a:r>
          </a:p>
          <a:p>
            <a:pPr>
              <a:defRPr sz="3200" b="1">
                <a:solidFill>
                  <a:srgbClr val="0F172A"/>
                </a:solidFill>
              </a:defRPr>
            </a:pPr>
            <a:r>
              <a:t>SOLAR MICROGRID INTEGRATION FOR PSU REFINERIES</a:t>
            </a:r>
          </a:p>
          <a:p>
            <a:pPr>
              <a:defRPr sz="1500">
                <a:solidFill>
                  <a:srgbClr val="475569"/>
                </a:solidFill>
              </a:defRPr>
            </a:pPr>
            <a:r>
              <a:t>This document outlines the strategic integration of solar microgrids into PSU refineries to enhance energy resilience, reduce operational costs, and align with national energy sustainability goals. The initiative leverages renewable energy sources to ensure uninterrupted operations during grid outages and supports long-term decarbonization objectives.</a:t>
            </a:r>
          </a:p>
          <a:p>
            <a:pPr>
              <a:defRPr sz="1100">
                <a:solidFill>
                  <a:srgbClr val="475569"/>
                </a:solidFill>
              </a:defRPr>
            </a:pPr>
            <a:r>
              <a:t>Date: 01 September 2026 | Sovereign AI Verification Engine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731520"/>
            <a:ext cx="10362895" cy="5486400"/>
          </a:xfrm>
          <a:prstGeom prst="rect">
            <a:avLst/>
          </a:prstGeom>
          <a:noFill/>
        </p:spPr>
        <p:txBody>
          <a:bodyPr wrap="square">
            <a:spAutoFit/>
          </a:bodyPr>
          <a:lstStyle/>
          <a:p>
            <a:pPr>
              <a:defRPr sz="2400" b="1">
                <a:solidFill>
                  <a:srgbClr val="0F172A"/>
                </a:solidFill>
              </a:defRPr>
            </a:pPr>
            <a:r>
              <a:t>Solar Microgrid Integration Overview</a:t>
            </a:r>
          </a:p>
          <a:p>
            <a:pPr>
              <a:defRPr sz="1300">
                <a:solidFill>
                  <a:srgbClr val="0EA5E9"/>
                </a:solidFill>
              </a:defRPr>
            </a:pPr>
            <a:r>
              <a:t>Strategic Energy Resilience for PSU Refineries</a:t>
            </a:r>
          </a:p>
          <a:p/>
          <a:p>
            <a:pPr>
              <a:spcAft>
                <a:spcPts val="1200"/>
              </a:spcAft>
              <a:defRPr sz="1500">
                <a:solidFill>
                  <a:srgbClr val="0F172A"/>
                </a:solidFill>
              </a:defRPr>
            </a:pPr>
            <a:r>
              <a:t>•  Enhance energy security through decentralized renewable power</a:t>
            </a:r>
          </a:p>
          <a:p>
            <a:pPr>
              <a:spcAft>
                <a:spcPts val="1200"/>
              </a:spcAft>
              <a:defRPr sz="1500">
                <a:solidFill>
                  <a:srgbClr val="0F172A"/>
                </a:solidFill>
              </a:defRPr>
            </a:pPr>
            <a:r>
              <a:t>•  Reduce dependency on grid-supplied electricity</a:t>
            </a:r>
          </a:p>
          <a:p>
            <a:pPr>
              <a:spcAft>
                <a:spcPts val="1200"/>
              </a:spcAft>
              <a:defRPr sz="1500">
                <a:solidFill>
                  <a:srgbClr val="0F172A"/>
                </a:solidFill>
              </a:defRPr>
            </a:pPr>
            <a:r>
              <a:t>•  Support national decarbonization targets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731520"/>
            <a:ext cx="10362895" cy="5486400"/>
          </a:xfrm>
          <a:prstGeom prst="rect">
            <a:avLst/>
          </a:prstGeom>
          <a:noFill/>
        </p:spPr>
        <p:txBody>
          <a:bodyPr wrap="square">
            <a:spAutoFit/>
          </a:bodyPr>
          <a:lstStyle/>
          <a:p>
            <a:pPr>
              <a:defRPr sz="2400" b="1">
                <a:solidFill>
                  <a:srgbClr val="0F172A"/>
                </a:solidFill>
              </a:defRPr>
            </a:pPr>
            <a:r>
              <a:t>Technical Evaluation</a:t>
            </a:r>
          </a:p>
          <a:p>
            <a:pPr>
              <a:defRPr sz="1300">
                <a:solidFill>
                  <a:srgbClr val="0EA5E9"/>
                </a:solidFill>
              </a:defRPr>
            </a:pPr>
            <a:r>
              <a:t>Data &amp; Analysis</a:t>
            </a:r>
          </a:p>
          <a:p/>
          <a:p>
            <a:pPr>
              <a:spcAft>
                <a:spcPts val="1200"/>
              </a:spcAft>
              <a:defRPr sz="1500">
                <a:solidFill>
                  <a:srgbClr val="0F172A"/>
                </a:solidFill>
              </a:defRPr>
            </a:pPr>
            <a:r>
              <a:t>•  Assess solar irradiance levels and site-specific energy demand patterns</a:t>
            </a:r>
          </a:p>
          <a:p>
            <a:pPr>
              <a:spcAft>
                <a:spcPts val="1200"/>
              </a:spcAft>
              <a:defRPr sz="1500">
                <a:solidFill>
                  <a:srgbClr val="0F172A"/>
                </a:solidFill>
              </a:defRPr>
            </a:pPr>
            <a:r>
              <a:t>•  Evaluate energy storage requirements for load balancing</a:t>
            </a:r>
          </a:p>
          <a:p>
            <a:pPr>
              <a:spcAft>
                <a:spcPts val="1200"/>
              </a:spcAft>
              <a:defRPr sz="1500">
                <a:solidFill>
                  <a:srgbClr val="0F172A"/>
                </a:solidFill>
              </a:defRPr>
            </a:pPr>
            <a:r>
              <a:t>•  Analyze grid interconnection and synchronization capabilities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731520"/>
            <a:ext cx="10362895" cy="5486400"/>
          </a:xfrm>
          <a:prstGeom prst="rect">
            <a:avLst/>
          </a:prstGeom>
          <a:noFill/>
        </p:spPr>
        <p:txBody>
          <a:bodyPr wrap="square">
            <a:spAutoFit/>
          </a:bodyPr>
          <a:lstStyle/>
          <a:p>
            <a:pPr>
              <a:defRPr sz="2400" b="1">
                <a:solidFill>
                  <a:srgbClr val="0F172A"/>
                </a:solidFill>
              </a:defRPr>
            </a:pPr>
            <a:r>
              <a:t>Action Plan &amp; Next Steps</a:t>
            </a:r>
          </a:p>
          <a:p>
            <a:pPr>
              <a:defRPr sz="1300">
                <a:solidFill>
                  <a:srgbClr val="0EA5E9"/>
                </a:solidFill>
              </a:defRPr>
            </a:pPr>
            <a:r>
              <a:t>Implementation Roadmap</a:t>
            </a:r>
          </a:p>
          <a:p/>
          <a:p>
            <a:pPr>
              <a:spcAft>
                <a:spcPts val="1200"/>
              </a:spcAft>
              <a:defRPr sz="1500">
                <a:solidFill>
                  <a:srgbClr val="0F172A"/>
                </a:solidFill>
              </a:defRPr>
            </a:pPr>
            <a:r>
              <a:t>•  Initiate feasibility study with energy audit and solar resource assessment</a:t>
            </a:r>
          </a:p>
          <a:p>
            <a:pPr>
              <a:spcAft>
                <a:spcPts val="1200"/>
              </a:spcAft>
              <a:defRPr sz="1500">
                <a:solidFill>
                  <a:srgbClr val="0F172A"/>
                </a:solidFill>
              </a:defRPr>
            </a:pPr>
            <a:r>
              <a:t>•  Secure funding and stakeholder buy-in for pilot project</a:t>
            </a:r>
          </a:p>
          <a:p>
            <a:pPr>
              <a:spcAft>
                <a:spcPts val="1200"/>
              </a:spcAft>
              <a:defRPr sz="1500">
                <a:solidFill>
                  <a:srgbClr val="0F172A"/>
                </a:solidFill>
              </a:defRPr>
            </a:pPr>
            <a:r>
              <a:t>•  Engage with regulatory bodies for incentive alignment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